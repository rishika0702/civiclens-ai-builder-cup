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2ae1e299b524cdf" /><Relationship Type="http://schemas.openxmlformats.org/officeDocument/2006/relationships/extended-properties" Target="/docProps/app.xml" Id="R4dee9eddc85045c2" /><Relationship Type="http://schemas.openxmlformats.org/officeDocument/2006/relationships/officeDocument" Target="/ppt/presentation.xml" Id="R36e980096d01417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81455e8d11a40ed"/>
  </p:sldMasterIdLst>
  <p:notesMasterIdLst>
    <p:notesMasterId xmlns:r="http://schemas.openxmlformats.org/officeDocument/2006/relationships" r:id="R23550216bd48498e"/>
  </p:notesMasterIdLst>
  <p:sldIdLst>
    <p:sldId xmlns:r="http://schemas.openxmlformats.org/officeDocument/2006/relationships" id="256" r:id="R2d892bf9389a4cbc"/>
    <p:sldId xmlns:r="http://schemas.openxmlformats.org/officeDocument/2006/relationships" id="257" r:id="Rf3b8a09e767c414b"/>
    <p:sldId xmlns:r="http://schemas.openxmlformats.org/officeDocument/2006/relationships" id="258" r:id="Rf35fc79949a148a3"/>
    <p:sldId xmlns:r="http://schemas.openxmlformats.org/officeDocument/2006/relationships" id="259" r:id="R6ad81b0365c747da"/>
    <p:sldId xmlns:r="http://schemas.openxmlformats.org/officeDocument/2006/relationships" id="260" r:id="Rc88e537a33d4440f"/>
    <p:sldId xmlns:r="http://schemas.openxmlformats.org/officeDocument/2006/relationships" id="261" r:id="Re5408286ea2b42ea"/>
    <p:sldId xmlns:r="http://schemas.openxmlformats.org/officeDocument/2006/relationships" id="262" r:id="R8f098fd1a3954679"/>
    <p:sldId xmlns:r="http://schemas.openxmlformats.org/officeDocument/2006/relationships" id="263" r:id="R910d4b121e954b79"/>
    <p:sldId xmlns:r="http://schemas.openxmlformats.org/officeDocument/2006/relationships" id="264" r:id="Rdcc393545a514a9a"/>
  </p:sldIdLst>
  <p:sldSz cx="12191695" cy="6858000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30e7770af6e4a92" /><Relationship Type="http://schemas.openxmlformats.org/officeDocument/2006/relationships/slideMaster" Target="/ppt/slideMasters/slideMaster1.xml" Id="R481455e8d11a40ed" /><Relationship Type="http://schemas.openxmlformats.org/officeDocument/2006/relationships/notesMaster" Target="/ppt/notesMasters/notesMaster1.xml" Id="R23550216bd48498e" /><Relationship Type="http://schemas.openxmlformats.org/officeDocument/2006/relationships/presProps" Target="/ppt/presProps.xml" Id="Ra0c04633afc240a4" /><Relationship Type="http://schemas.openxmlformats.org/officeDocument/2006/relationships/viewProps" Target="/ppt/viewProps.xml" Id="Re58ca0d8916f43ca" /><Relationship Type="http://schemas.openxmlformats.org/officeDocument/2006/relationships/tableStyles" Target="/ppt/tableStyles.xml" Id="R8645682459854b49" /><Relationship Type="http://schemas.openxmlformats.org/officeDocument/2006/relationships/slide" Target="/ppt/slides/slide1.xml" Id="R2d892bf9389a4cbc" /><Relationship Type="http://schemas.openxmlformats.org/officeDocument/2006/relationships/slide" Target="/ppt/slides/slide2.xml" Id="Rf3b8a09e767c414b" /><Relationship Type="http://schemas.openxmlformats.org/officeDocument/2006/relationships/slide" Target="/ppt/slides/slide3.xml" Id="Rf35fc79949a148a3" /><Relationship Type="http://schemas.openxmlformats.org/officeDocument/2006/relationships/slide" Target="/ppt/slides/slide4.xml" Id="R6ad81b0365c747da" /><Relationship Type="http://schemas.openxmlformats.org/officeDocument/2006/relationships/slide" Target="/ppt/slides/slide5.xml" Id="Rc88e537a33d4440f" /><Relationship Type="http://schemas.openxmlformats.org/officeDocument/2006/relationships/slide" Target="/ppt/slides/slide6.xml" Id="Re5408286ea2b42ea" /><Relationship Type="http://schemas.openxmlformats.org/officeDocument/2006/relationships/slide" Target="/ppt/slides/slide7.xml" Id="R8f098fd1a3954679" /><Relationship Type="http://schemas.openxmlformats.org/officeDocument/2006/relationships/slide" Target="/ppt/slides/slide8.xml" Id="R910d4b121e954b79" /><Relationship Type="http://schemas.openxmlformats.org/officeDocument/2006/relationships/slide" Target="/ppt/slides/slide9.xml" Id="Rdcc393545a514a9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8fe3c2198604dc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106eb0bf3844194" /><Relationship Type="http://schemas.openxmlformats.org/officeDocument/2006/relationships/notesMaster" Target="/ppt/notesMasters/notesMaster1.xml" Id="Rb18b2408aefb4bd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37a82e23b054a21" /><Relationship Type="http://schemas.openxmlformats.org/officeDocument/2006/relationships/notesMaster" Target="/ppt/notesMasters/notesMaster1.xml" Id="R0628544518a842d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6216839c1cc4e29" /><Relationship Type="http://schemas.openxmlformats.org/officeDocument/2006/relationships/notesMaster" Target="/ppt/notesMasters/notesMaster1.xml" Id="R5e25009df08b439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6aca943d1de4bf7" /><Relationship Type="http://schemas.openxmlformats.org/officeDocument/2006/relationships/notesMaster" Target="/ppt/notesMasters/notesMaster1.xml" Id="R670032f61d95497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908d00c198e47e9" /><Relationship Type="http://schemas.openxmlformats.org/officeDocument/2006/relationships/notesMaster" Target="/ppt/notesMasters/notesMaster1.xml" Id="Rfd1a569fe8134c6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476b437833f47db" /><Relationship Type="http://schemas.openxmlformats.org/officeDocument/2006/relationships/notesMaster" Target="/ppt/notesMasters/notesMaster1.xml" Id="R39a368041a1f44c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27f39ec57d343e1" /><Relationship Type="http://schemas.openxmlformats.org/officeDocument/2006/relationships/notesMaster" Target="/ppt/notesMasters/notesMaster1.xml" Id="R1268472f2da740b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ab8afd082414c4c" /><Relationship Type="http://schemas.openxmlformats.org/officeDocument/2006/relationships/notesMaster" Target="/ppt/notesMasters/notesMaster1.xml" Id="R96ac609bd1f6419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055103026d44d37" /><Relationship Type="http://schemas.openxmlformats.org/officeDocument/2006/relationships/notesMaster" Target="/ppt/notesMasters/notesMaster1.xml" Id="R14efff44fcd14ec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11527afd946461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ef6e9b3cc4242d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9d010d6843041e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2f271ae81e546e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2f8b1d96a954ba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e09752e24734296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0bc6201eb0243ef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023f34fc2c1454e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c0aca091644207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4626db56ee488a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bb531ba0e6f4bbf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C59973D-4371-4421-AD72-289B2C2583E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E9BAEB14-DFFD-4152-9A77-2DC348C684C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2872FEE-E402-4160-9D0A-49B92E425C2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D1C3CDF-5F00-4654-B12B-CD840D011AA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CCF702D-969D-4322-887B-659F78D84DC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7434332-D1A3-4286-BEFD-CCC9336B375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E43B04E-88E7-48B5-AEDF-C07629FA28C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7F81D35-B48E-4B40-B228-29B9CD32992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946D3C6-84B1-43E9-A483-8E1BF620DBD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C13EF09-963D-440D-BD32-DEEC22A65C8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892623B-495A-4977-AB30-FE42125B999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A330E11-C0DF-4F13-8696-6FC63D1156F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F74C21E-30B5-4B4E-878A-EBEBBF70C7A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4122C3A-B40A-4F48-9F30-F5C05AC660C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46295E2-45EC-48E2-9688-4D2C355424C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289A007-B20C-45D3-A4F3-E0DC5CBFD4B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6DF958E-9E2D-43E7-A912-6EC7852E7EF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D4B7D0A4-58BA-427B-B1B6-21FF624B3860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6643C3B3-4BAF-4C72-BA2D-031C15096A6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7AF01E2E-5AE9-4FA5-B7E3-C9C5D4FEFFD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2C48F1A3-6350-4DE2-AA03-3D3D622A627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83E6FE9-BAA1-49EA-AA42-68C676271CA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20194F2-F28E-438D-BC62-3B76E765079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9EAC922E-1CCF-45D0-855E-5CFECC09540F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597BCAAB-1D42-4870-9B35-309BF5AC8673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05B054F4-A10F-4B03-A898-085CBEC17630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62EB5E52-4CC9-4346-B2D5-07F189E19AE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0D8B71E1-7A5F-4DFC-830C-D992A93A53E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D7E092B4-495C-4ECC-97C1-66CD772300D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2F6B189-2491-4D39-A804-697E68FF48E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6C24908E-E5D3-4C95-9DB3-D86D16B724C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1A11FB9C-9D0E-40E4-B5E8-5E3B164D6EF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9DDA207-2E67-4F82-91D3-6028F1C13B4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0403898D-E142-47F0-A9D4-F4248225F58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0FC2EA02-283A-469B-A5C2-3B923EA8100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F17C56D5-BF20-4210-A74B-1DC652BA280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F11B635-30CF-4416-9524-735620E2611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44DA7EB-C02F-4CDF-9C48-320409A1A1B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C454BF54-8A0C-434F-AE34-A91555FC320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CA93307E-641B-4212-9DBC-AFA059F9855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A493765C-DF66-4C7F-9FED-8F197EACA00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3A62371C-1092-4E5D-A781-82C80A05E4B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5B32A57-F51F-49F3-AB50-EAB250E6105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FA4B29AF-E1C3-44BD-9493-4BC6A86F997A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B7A9EFA4-DB71-4F50-B8DE-C336BAC23E4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4BEB36F0-C60B-44A9-AEF9-07C999CE79D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01F62DDB-FAF7-4661-ABC2-D7FAE868385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80F33024-815D-4067-AD9A-ADB100A0196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5346FF6-3F1E-4759-8A08-1BA7360BB3F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C59ED633-A0DE-4DA0-9D2B-B20A7B02FA1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F5E8FF0-8E53-492E-B8B7-5BAD31F2377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3926DD4-67A3-442D-AA7D-C45CD84103D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07715AC-AC48-4590-81AB-4ABBBF516C2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0FAD6384-70EE-4013-9EE4-4E0537D1CCA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5A6FA8EC-DEA1-4048-BF38-3486AE5639B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4672DE43-B5CA-4F50-A01D-A08E3ED54CC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8D09123-95EA-42DB-B123-E33061FC991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888EEC1-2EE3-479B-9E94-CDD491ADB66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95d16fc0f954108" /><Relationship Type="http://schemas.openxmlformats.org/officeDocument/2006/relationships/slideLayout" Target="/ppt/slideLayouts/slideLayout1.xml" Id="R76c6c48fbf874c17" /><Relationship Type="http://schemas.openxmlformats.org/officeDocument/2006/relationships/slideLayout" Target="/ppt/slideLayouts/slideLayout2.xml" Id="R829267ee6c864f06" /><Relationship Type="http://schemas.openxmlformats.org/officeDocument/2006/relationships/slideLayout" Target="/ppt/slideLayouts/slideLayout3.xml" Id="Raaf5178c04e44f70" /><Relationship Type="http://schemas.openxmlformats.org/officeDocument/2006/relationships/slideLayout" Target="/ppt/slideLayouts/slideLayout4.xml" Id="R4866910872c94740" /><Relationship Type="http://schemas.openxmlformats.org/officeDocument/2006/relationships/slideLayout" Target="/ppt/slideLayouts/slideLayout5.xml" Id="R9a4ce628ccbe4a28" /><Relationship Type="http://schemas.openxmlformats.org/officeDocument/2006/relationships/slideLayout" Target="/ppt/slideLayouts/slideLayout6.xml" Id="R7e2d8e0c648d49cc" /><Relationship Type="http://schemas.openxmlformats.org/officeDocument/2006/relationships/slideLayout" Target="/ppt/slideLayouts/slideLayout7.xml" Id="R7a0c19bd41ae4a02" /><Relationship Type="http://schemas.openxmlformats.org/officeDocument/2006/relationships/slideLayout" Target="/ppt/slideLayouts/slideLayout8.xml" Id="R8a0c13fe8b724280" /><Relationship Type="http://schemas.openxmlformats.org/officeDocument/2006/relationships/slideLayout" Target="/ppt/slideLayouts/slideLayout9.xml" Id="R6aaf52c159654513" /><Relationship Type="http://schemas.openxmlformats.org/officeDocument/2006/relationships/slideLayout" Target="/ppt/slideLayouts/slideLayout10.xml" Id="Racbe72aa4f5041a7" /><Relationship Type="http://schemas.openxmlformats.org/officeDocument/2006/relationships/slideLayout" Target="/ppt/slideLayouts/slideLayout11.xml" Id="Rc52c051444274bed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AFCB0766-3DC0-4E3D-AEF7-F96E05D7418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EE7A229-5E92-40B8-924F-16ED879D9B7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322A237-0855-4831-9D8C-42883BC84A2C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8F145F0-DA5E-4A39-813A-593C8C30DC56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F9793F6-F6C7-41C1-BB65-4DF3F1A18F4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6c6c48fbf874c17"/>
    <p:sldLayoutId xmlns:r="http://schemas.openxmlformats.org/officeDocument/2006/relationships" id="2147483650" r:id="R829267ee6c864f06"/>
    <p:sldLayoutId xmlns:r="http://schemas.openxmlformats.org/officeDocument/2006/relationships" id="2147483651" r:id="Raaf5178c04e44f70"/>
    <p:sldLayoutId xmlns:r="http://schemas.openxmlformats.org/officeDocument/2006/relationships" id="2147483652" r:id="R4866910872c94740"/>
    <p:sldLayoutId xmlns:r="http://schemas.openxmlformats.org/officeDocument/2006/relationships" id="2147483653" r:id="R9a4ce628ccbe4a28"/>
    <p:sldLayoutId xmlns:r="http://schemas.openxmlformats.org/officeDocument/2006/relationships" id="2147483654" r:id="R7e2d8e0c648d49cc"/>
    <p:sldLayoutId xmlns:r="http://schemas.openxmlformats.org/officeDocument/2006/relationships" id="2147483655" r:id="R7a0c19bd41ae4a02"/>
    <p:sldLayoutId xmlns:r="http://schemas.openxmlformats.org/officeDocument/2006/relationships" id="2147483656" r:id="R8a0c13fe8b724280"/>
    <p:sldLayoutId xmlns:r="http://schemas.openxmlformats.org/officeDocument/2006/relationships" id="2147483657" r:id="R6aaf52c159654513"/>
    <p:sldLayoutId xmlns:r="http://schemas.openxmlformats.org/officeDocument/2006/relationships" id="2147483658" r:id="Racbe72aa4f5041a7"/>
    <p:sldLayoutId xmlns:r="http://schemas.openxmlformats.org/officeDocument/2006/relationships" id="2147483659" r:id="Rc52c051444274bed"/>
  </p:sldLayoutIdLst>
  <p:txStyles>
    <p:titleStyle>
      <a:lvl1pPr xmlns:a="http://schemas.openxmlformats.org/drawingml/2006/main"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9152a12e10f4dda" /><Relationship Type="http://schemas.openxmlformats.org/officeDocument/2006/relationships/notesSlide" Target="/ppt/notesSlides/notesSlide1.xml" Id="R4bcbad83ed3d424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42244521bd74841" /><Relationship Type="http://schemas.openxmlformats.org/officeDocument/2006/relationships/notesSlide" Target="/ppt/notesSlides/notesSlide2.xml" Id="R17357690e96e427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2aa82506c78445d" /><Relationship Type="http://schemas.openxmlformats.org/officeDocument/2006/relationships/notesSlide" Target="/ppt/notesSlides/notesSlide3.xml" Id="Ra9a9dedeb5934a4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d8c998a900e4fa7" /><Relationship Type="http://schemas.openxmlformats.org/officeDocument/2006/relationships/notesSlide" Target="/ppt/notesSlides/notesSlide4.xml" Id="R3ac4573d85de4c0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0e6eaeb41254206" /><Relationship Type="http://schemas.openxmlformats.org/officeDocument/2006/relationships/notesSlide" Target="/ppt/notesSlides/notesSlide5.xml" Id="Rdda1e48fba25411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2e6226195cc46b8" /><Relationship Type="http://schemas.openxmlformats.org/officeDocument/2006/relationships/notesSlide" Target="/ppt/notesSlides/notesSlide6.xml" Id="R891332c0498a459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569a278ba7f4821" /><Relationship Type="http://schemas.openxmlformats.org/officeDocument/2006/relationships/notesSlide" Target="/ppt/notesSlides/notesSlide7.xml" Id="Rbb7f3fd95a994c1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2eec2d3df334d94" /><Relationship Type="http://schemas.openxmlformats.org/officeDocument/2006/relationships/notesSlide" Target="/ppt/notesSlides/notesSlide8.xml" Id="Rad7c6b29eec9460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3633f7bfb994c4d" /><Relationship Type="http://schemas.openxmlformats.org/officeDocument/2006/relationships/notesSlide" Target="/ppt/notesSlides/notesSlide9.xml" Id="Rce29d9b0d5cd447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90D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DE37621B-37DD-4B4D-A3BC-A76644E5D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"/>
            <a:ext cx="9144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200"/>
              </a:spcAft>
              <a:buNone/>
              <a:defRPr sz="1100" b="1">
                <a:solidFill>
                  <a:srgbClr val="49E7C3"/>
                </a:solidFill>
              </a:defRPr>
            </a:pPr>
            <a:r>
              <a:t>◉ CIVICLENS    /    GOOGLE CLOUD AI BUILDER CUP 2026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3ADB4DFF-6C4C-4E03-B09C-2B502FD18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68680"/>
            <a:ext cx="1097280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200"/>
              </a:spcAft>
              <a:buNone/>
              <a:defRPr sz="3300" b="1">
                <a:solidFill>
                  <a:srgbClr val="ECF3FF"/>
                </a:solidFill>
              </a:defRPr>
            </a:pPr>
            <a:r>
              <a:t>01  Every voice. One clearer city.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6A24CF00-9E3E-4722-A104-0A24A61DB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691640"/>
            <a:ext cx="1005840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200"/>
              </a:spcAft>
              <a:buNone/>
              <a:defRPr sz="1600" b="0">
                <a:solidFill>
                  <a:srgbClr val="98AAC0"/>
                </a:solidFill>
              </a:defRPr>
            </a:pPr>
            <a:r>
              <a:t>Multimodal, multilingual civic complaints transformed into municipal action.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9AC3E3D0-C479-4DCA-BB83-39F4787F2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492240"/>
            <a:ext cx="10058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200"/>
              </a:spcAft>
              <a:buNone/>
              <a:defRPr sz="900" b="0">
                <a:solidFill>
                  <a:srgbClr val="98AAC0"/>
                </a:solidFill>
              </a:defRPr>
            </a:pPr>
            <a:r>
              <a:t>Prototype • synthetic demonstration • internal pitch draft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6EDA1559-7DE1-496F-8BCC-B069665B3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606040"/>
            <a:ext cx="10698480" cy="24688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5223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CBFA5FAB-B17B-427F-AE55-71403DFF1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926080"/>
            <a:ext cx="411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200"/>
              </a:spcAft>
              <a:buNone/>
              <a:defRPr sz="2500" b="1">
                <a:solidFill>
                  <a:srgbClr val="FFD17B"/>
                </a:solidFill>
              </a:defRPr>
            </a:pPr>
            <a:r>
              <a:t>50 CITIZEN REPORTS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DAA10CC8-D16E-46B6-8964-FE23EC305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560" y="3017520"/>
            <a:ext cx="91440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200"/>
              </a:spcAft>
              <a:buNone/>
              <a:defRPr sz="4400" b="1">
                <a:solidFill>
                  <a:srgbClr val="49E7C3"/>
                </a:solidFill>
              </a:defRPr>
            </a:pPr>
            <a:r>
              <a:t>→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46853468-0CC0-4717-9EBF-7309C944C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2926080"/>
            <a:ext cx="411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200"/>
              </a:spcAft>
              <a:buNone/>
              <a:defRPr sz="2500" b="1">
                <a:solidFill>
                  <a:srgbClr val="49E7C3"/>
                </a:solidFill>
              </a:defRPr>
            </a:pPr>
            <a:r>
              <a:t>5 UNIQUE INCIDENTS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080031B6-5BCA-441C-B930-BD5E90815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4069080"/>
            <a:ext cx="91440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200"/>
              </a:spcAft>
              <a:buNone/>
              <a:defRPr sz="2000" b="0">
                <a:solidFill>
                  <a:srgbClr val="ECF3FF"/>
                </a:solidFill>
              </a:defRPr>
            </a:pPr>
            <a:r>
              <a:t>One prioritized command center. Less noise, faster response.</a:t>
            </a:r>
          </a:p>
        </p:txBody>
      </p:sp>
    </p:spTree>
    <p:extLst>
      <p:ext uri="{BB962C8B-B14F-4D97-AF65-F5344CB8AC3E}">
        <p14:creationId xmlns:p14="http://schemas.microsoft.com/office/powerpoint/2010/main" val="115839943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90D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EB32C649-A460-45D9-A78C-6838D597B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"/>
            <a:ext cx="9144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200"/>
              </a:spcAft>
              <a:buNone/>
              <a:defRPr sz="1100" b="1">
                <a:solidFill>
                  <a:srgbClr val="49E7C3"/>
                </a:solidFill>
              </a:defRPr>
            </a:pPr>
            <a:r>
              <a:t>◉ CIVICLENS    /    GOOGLE CLOUD AI BUILDER CUP 2026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D4925D3B-7ABE-4DF4-A2F0-0D1BA78E0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68680"/>
            <a:ext cx="1097280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200"/>
              </a:spcAft>
              <a:buNone/>
              <a:defRPr sz="3300" b="1">
                <a:solidFill>
                  <a:srgbClr val="ECF3FF"/>
                </a:solidFill>
              </a:defRPr>
            </a:pPr>
            <a:r>
              <a:t>02  The problem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6045A33E-71F7-4DB0-BCA2-5808F6582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691640"/>
            <a:ext cx="1005840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200"/>
              </a:spcAft>
              <a:buNone/>
              <a:defRPr sz="1600" b="0">
                <a:solidFill>
                  <a:srgbClr val="98AAC0"/>
                </a:solidFill>
              </a:defRPr>
            </a:pPr>
            <a:r>
              <a:t>Fragmented complaint intake delays the right municipal response.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AC898FFE-E304-407C-8DAF-A7D7AF63C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492240"/>
            <a:ext cx="10058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200"/>
              </a:spcAft>
              <a:buNone/>
              <a:defRPr sz="900" b="0">
                <a:solidFill>
                  <a:srgbClr val="98AAC0"/>
                </a:solidFill>
              </a:defRPr>
            </a:pPr>
            <a:r>
              <a:t>Prototype • synthetic demonstration • internal pitch draft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67B34EBF-396B-4465-96C1-8759A0EE7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468880"/>
            <a:ext cx="3566160" cy="2514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5223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7A38A2FE-F89C-4F0C-BA94-E60C3613D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788920"/>
            <a:ext cx="31089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200"/>
              </a:spcAft>
              <a:buNone/>
              <a:defRPr sz="2300" b="1">
                <a:solidFill>
                  <a:srgbClr val="49E7C3"/>
                </a:solidFill>
              </a:defRPr>
            </a:pPr>
            <a:r>
              <a:t>Too many tickets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66741357-6DBF-4714-B617-8633740D7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566160"/>
            <a:ext cx="306324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200"/>
              </a:spcAft>
              <a:buNone/>
              <a:defRPr sz="1700" b="0">
                <a:solidFill>
                  <a:srgbClr val="ECF3FF"/>
                </a:solidFill>
              </a:defRPr>
            </a:pPr>
            <a:r>
              <a:t>Multiple people report the same pothole as separate cases.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82C9F4F5-776E-4A7C-9D7D-DB21391DE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2468880"/>
            <a:ext cx="3566160" cy="2514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5223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583EA890-79E6-4751-A091-EE3CB4773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2788920"/>
            <a:ext cx="31089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200"/>
              </a:spcAft>
              <a:buNone/>
              <a:defRPr sz="2300" b="1">
                <a:solidFill>
                  <a:srgbClr val="49E7C3"/>
                </a:solidFill>
              </a:defRPr>
            </a:pPr>
            <a:r>
              <a:t>Many languages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58E10E6B-30D0-4156-B4DA-D6FAEC4B7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3566160"/>
            <a:ext cx="306324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200"/>
              </a:spcAft>
              <a:buNone/>
              <a:defRPr sz="1700" b="0">
                <a:solidFill>
                  <a:srgbClr val="ECF3FF"/>
                </a:solidFill>
              </a:defRPr>
            </a:pPr>
            <a:r>
              <a:t>Local-language reports and voice are hard to standardize.</a:t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46941C58-C4CC-415D-9282-4751B95FD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2468880"/>
            <a:ext cx="3566160" cy="2514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5223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4F475389-69E7-493E-8C13-C467C5BAC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40" y="2788920"/>
            <a:ext cx="31089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200"/>
              </a:spcAft>
              <a:buNone/>
              <a:defRPr sz="2300" b="1">
                <a:solidFill>
                  <a:srgbClr val="49E7C3"/>
                </a:solidFill>
              </a:defRPr>
            </a:pPr>
            <a:r>
              <a:t>Limited visibility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C21E578F-47F7-4B25-B1A5-6B87688F7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40" y="3566160"/>
            <a:ext cx="306324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200"/>
              </a:spcAft>
              <a:buNone/>
              <a:defRPr sz="1700" b="0">
                <a:solidFill>
                  <a:srgbClr val="ECF3FF"/>
                </a:solidFill>
              </a:defRPr>
            </a:pPr>
            <a:r>
              <a:t>Officers lack unified hotspots and urgency-based triage.</a:t>
            </a:r>
          </a:p>
        </p:txBody>
      </p:sp>
    </p:spTree>
    <p:extLst>
      <p:ext uri="{BB962C8B-B14F-4D97-AF65-F5344CB8AC3E}">
        <p14:creationId xmlns:p14="http://schemas.microsoft.com/office/powerpoint/2010/main" val="151426582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90D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78829F01-E2B9-46CB-A900-49B1E56C6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"/>
            <a:ext cx="9144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200"/>
              </a:spcAft>
              <a:buNone/>
              <a:defRPr sz="1100" b="1">
                <a:solidFill>
                  <a:srgbClr val="49E7C3"/>
                </a:solidFill>
              </a:defRPr>
            </a:pPr>
            <a:r>
              <a:t>◉ CIVICLENS    /    GOOGLE CLOUD AI BUILDER CUP 2026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3B010005-FEC6-4AAC-A169-1919785AE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68680"/>
            <a:ext cx="1097280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200"/>
              </a:spcAft>
              <a:buNone/>
              <a:defRPr sz="3300" b="1">
                <a:solidFill>
                  <a:srgbClr val="ECF3FF"/>
                </a:solidFill>
              </a:defRPr>
            </a:pPr>
            <a:r>
              <a:t>03  Our solution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46F0529E-7C62-4CB1-8CEE-01FACBA7E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691640"/>
            <a:ext cx="1005840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200"/>
              </a:spcAft>
              <a:buNone/>
              <a:defRPr sz="1600" b="0">
                <a:solidFill>
                  <a:srgbClr val="98AAC0"/>
                </a:solidFill>
              </a:defRPr>
            </a:pPr>
            <a:r>
              <a:t>Listen → understand → merge → act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ABB6D63F-CFD3-47E7-835D-B7483054B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492240"/>
            <a:ext cx="10058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200"/>
              </a:spcAft>
              <a:buNone/>
              <a:defRPr sz="900" b="0">
                <a:solidFill>
                  <a:srgbClr val="98AAC0"/>
                </a:solidFill>
              </a:defRPr>
            </a:pPr>
            <a:r>
              <a:t>Prototype • synthetic demonstration • internal pitch draft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96A0FFBB-2C2E-494E-B37F-AE7A7CFBD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468880"/>
            <a:ext cx="2697480" cy="31089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5223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38E4A7BF-A52D-4105-9504-CDB17B8DC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770632"/>
            <a:ext cx="23774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200"/>
              </a:spcAft>
              <a:buNone/>
              <a:defRPr sz="1600" b="1">
                <a:solidFill>
                  <a:srgbClr val="49E7C3"/>
                </a:solidFill>
              </a:defRPr>
            </a:pPr>
            <a:r>
              <a:t>01 / INTAKE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88D6C4F3-2475-4BDE-9881-AA851A225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474720"/>
            <a:ext cx="2286000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200"/>
              </a:spcAft>
              <a:buNone/>
              <a:defRPr sz="1800" b="0">
                <a:solidFill>
                  <a:srgbClr val="ECF3FF"/>
                </a:solidFill>
              </a:defRPr>
            </a:pPr>
            <a:r>
              <a:t>Text, image and browser voice in English, Hindi and Telugu.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75DAFDA3-5028-4DE8-9CC0-9303C9B23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468880"/>
            <a:ext cx="2697480" cy="31089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5223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01A2DA21-BEB7-49EA-86F4-880D121A1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1880" y="2770632"/>
            <a:ext cx="23774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200"/>
              </a:spcAft>
              <a:buNone/>
              <a:defRPr sz="1600" b="1">
                <a:solidFill>
                  <a:srgbClr val="49E7C3"/>
                </a:solidFill>
              </a:defRPr>
            </a:pPr>
            <a:r>
              <a:t>02 / TRIAGE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70D8EE74-847F-4E3B-A3A2-FF4F3320F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1880" y="3474720"/>
            <a:ext cx="2286000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200"/>
              </a:spcAft>
              <a:buNone/>
              <a:defRPr sz="1800" b="0">
                <a:solidFill>
                  <a:srgbClr val="ECF3FF"/>
                </a:solidFill>
              </a:defRPr>
            </a:pPr>
            <a:r>
              <a:t>Gemini assigns complaint category, summary and 1–5 urgency.</a:t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211CFF8F-D542-43B1-8878-7B01AFC82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59" y="2468880"/>
            <a:ext cx="2697480" cy="31089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5223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6FE98DE3-9CF2-4508-91A7-23E689E33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2770632"/>
            <a:ext cx="23774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200"/>
              </a:spcAft>
              <a:buNone/>
              <a:defRPr sz="1600" b="1">
                <a:solidFill>
                  <a:srgbClr val="49E7C3"/>
                </a:solidFill>
              </a:defRPr>
            </a:pPr>
            <a:r>
              <a:t>03 / CLUSTER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4CE02DBD-FC91-4E38-ACBE-E80680206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3474720"/>
            <a:ext cx="2286000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200"/>
              </a:spcAft>
              <a:buNone/>
              <a:defRPr sz="1800" b="0">
                <a:solidFill>
                  <a:srgbClr val="ECF3FF"/>
                </a:solidFill>
              </a:defRPr>
            </a:pPr>
            <a:r>
              <a:t>Nearby same-category complaints merge into one incident.</a:t>
            </a: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F75CAEF3-478C-4FBA-A1B4-9C3E466A0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9719" y="2468880"/>
            <a:ext cx="2697480" cy="31089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5223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0F40B3F6-5F64-43E6-96A7-DE439AE08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599" y="2770632"/>
            <a:ext cx="23774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200"/>
              </a:spcAft>
              <a:buNone/>
              <a:defRPr sz="1600" b="1">
                <a:solidFill>
                  <a:srgbClr val="49E7C3"/>
                </a:solidFill>
              </a:defRPr>
            </a:pPr>
            <a:r>
              <a:t>04 / PRIORITIZE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A175D4F7-66C0-45FC-B2D0-38A2509AC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599" y="3474720"/>
            <a:ext cx="2286000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200"/>
              </a:spcAft>
              <a:buNone/>
              <a:defRPr sz="1800" b="0">
                <a:solidFill>
                  <a:srgbClr val="ECF3FF"/>
                </a:solidFill>
              </a:defRPr>
            </a:pPr>
            <a:r>
              <a:t>Hotspots and ranked municipal work queue.</a:t>
            </a:r>
          </a:p>
        </p:txBody>
      </p:sp>
    </p:spTree>
    <p:extLst>
      <p:ext uri="{BB962C8B-B14F-4D97-AF65-F5344CB8AC3E}">
        <p14:creationId xmlns:p14="http://schemas.microsoft.com/office/powerpoint/2010/main" val="115173368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90D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6798CE5B-FFC9-48A5-A784-205F6CE5D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"/>
            <a:ext cx="9144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200"/>
              </a:spcAft>
              <a:buNone/>
              <a:defRPr sz="1100" b="1">
                <a:solidFill>
                  <a:srgbClr val="49E7C3"/>
                </a:solidFill>
              </a:defRPr>
            </a:pPr>
            <a:r>
              <a:t>◉ CIVICLENS    /    GOOGLE CLOUD AI BUILDER CUP 2026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A0A10DEE-6B57-4E7C-8D67-385E7EEB4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68680"/>
            <a:ext cx="1097280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200"/>
              </a:spcAft>
              <a:buNone/>
              <a:defRPr sz="3300" b="1">
                <a:solidFill>
                  <a:srgbClr val="ECF3FF"/>
                </a:solidFill>
              </a:defRPr>
            </a:pPr>
            <a:r>
              <a:t>04  Product walkthrough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8C11BE72-2DDC-479F-AEB4-B9DA65BF6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691640"/>
            <a:ext cx="1005840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200"/>
              </a:spcAft>
              <a:buNone/>
              <a:defRPr sz="1600" b="0">
                <a:solidFill>
                  <a:srgbClr val="98AAC0"/>
                </a:solidFill>
              </a:defRPr>
            </a:pPr>
            <a:r>
              <a:t>Seeded demo is operational locally; external AI integrations require credentials.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4F395943-8068-416C-9F32-D7BCAF2D3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492240"/>
            <a:ext cx="10058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200"/>
              </a:spcAft>
              <a:buNone/>
              <a:defRPr sz="900" b="0">
                <a:solidFill>
                  <a:srgbClr val="98AAC0"/>
                </a:solidFill>
              </a:defRPr>
            </a:pPr>
            <a:r>
              <a:t>Prototype • synthetic demonstration • internal pitch draft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096473A0-6324-4808-8235-905CE15CF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286000"/>
            <a:ext cx="5212080" cy="3337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5223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7CC50186-F87B-4F1A-9F09-B18B6DFE9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15184"/>
            <a:ext cx="45720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200"/>
              </a:spcAft>
              <a:buNone/>
              <a:defRPr sz="2300" b="1">
                <a:solidFill>
                  <a:srgbClr val="49E7C3"/>
                </a:solidFill>
              </a:defRPr>
            </a:pPr>
            <a:r>
              <a:t>CITIZEN EXPERIENCE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19833AED-A38E-4C1C-A653-53D012ED4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46120"/>
            <a:ext cx="4480560" cy="2011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200"/>
              </a:spcAft>
              <a:buNone/>
              <a:defRPr sz="1800" b="0">
                <a:solidFill>
                  <a:srgbClr val="ECF3FF"/>
                </a:solidFill>
              </a:defRPr>
            </a:pPr>
            <a:r>
              <a:t>Describe a road hazard in any supported language</a:t>
            </a:r>
          </a:p>
          <a:p xmlns:a="http://schemas.openxmlformats.org/drawingml/2006/main">
            <a:pPr>
              <a:spcAft>
                <a:spcPts val="1200"/>
              </a:spcAft>
              <a:buNone/>
              <a:defRPr sz="1800" b="0">
                <a:solidFill>
                  <a:srgbClr val="ECF3FF"/>
                </a:solidFill>
              </a:defRPr>
            </a:pPr>
            <a:r>
              <a:t>Attach photo or dictate via browser speech</a:t>
            </a:r>
          </a:p>
          <a:p xmlns:a="http://schemas.openxmlformats.org/drawingml/2006/main">
            <a:pPr>
              <a:spcAft>
                <a:spcPts val="1200"/>
              </a:spcAft>
              <a:buNone/>
              <a:defRPr sz="1800" b="0">
                <a:solidFill>
                  <a:srgbClr val="ECF3FF"/>
                </a:solidFill>
              </a:defRPr>
            </a:pPr>
            <a:r>
              <a:t>Submit coordinates</a:t>
            </a:r>
          </a:p>
          <a:p xmlns:a="http://schemas.openxmlformats.org/drawingml/2006/main">
            <a:pPr>
              <a:spcAft>
                <a:spcPts val="1200"/>
              </a:spcAft>
              <a:buNone/>
              <a:defRPr sz="1800" b="0">
                <a:solidFill>
                  <a:srgbClr val="ECF3FF"/>
                </a:solidFill>
              </a:defRPr>
            </a:pPr>
            <a:r>
              <a:t>Receive categorization + merged incident ID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2F5D9545-D7BA-42CE-A3A0-06647E773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2286000"/>
            <a:ext cx="5394960" cy="3337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5223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0755FBD7-9575-4387-82C8-4AA2486E0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15184"/>
            <a:ext cx="45720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200"/>
              </a:spcAft>
              <a:buNone/>
              <a:defRPr sz="2300" b="1">
                <a:solidFill>
                  <a:srgbClr val="FFD17B"/>
                </a:solidFill>
              </a:defRPr>
            </a:pPr>
            <a:r>
              <a:t>MUNICIPAL EXPERIENCE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2DD4B20E-F917-48EB-920E-9B2551BB5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246120"/>
            <a:ext cx="4663440" cy="2011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200"/>
              </a:spcAft>
              <a:buNone/>
              <a:defRPr sz="1800" b="0">
                <a:solidFill>
                  <a:srgbClr val="ECF3FF"/>
                </a:solidFill>
              </a:defRPr>
            </a:pPr>
            <a:r>
              <a:t>50 synthetic complaints → 5 incidents</a:t>
            </a:r>
          </a:p>
          <a:p xmlns:a="http://schemas.openxmlformats.org/drawingml/2006/main">
            <a:pPr>
              <a:spcAft>
                <a:spcPts val="1200"/>
              </a:spcAft>
              <a:buNone/>
              <a:defRPr sz="1800" b="0">
                <a:solidFill>
                  <a:srgbClr val="ECF3FF"/>
                </a:solidFill>
              </a:defRPr>
            </a:pPr>
            <a:r>
              <a:t>Geographic hotspot visualization</a:t>
            </a:r>
          </a:p>
          <a:p xmlns:a="http://schemas.openxmlformats.org/drawingml/2006/main">
            <a:pPr>
              <a:spcAft>
                <a:spcPts val="1200"/>
              </a:spcAft>
              <a:buNone/>
              <a:defRPr sz="1800" b="0">
                <a:solidFill>
                  <a:srgbClr val="ECF3FF"/>
                </a:solidFill>
              </a:defRPr>
            </a:pPr>
            <a:r>
              <a:t>Score ranked by urgency and report volume</a:t>
            </a:r>
          </a:p>
          <a:p xmlns:a="http://schemas.openxmlformats.org/drawingml/2006/main">
            <a:pPr>
              <a:spcAft>
                <a:spcPts val="1200"/>
              </a:spcAft>
              <a:buNone/>
              <a:defRPr sz="1800" b="0">
                <a:solidFill>
                  <a:srgbClr val="ECF3FF"/>
                </a:solidFill>
              </a:defRPr>
            </a:pPr>
            <a:r>
              <a:t>Click through for incident status</a:t>
            </a:r>
          </a:p>
        </p:txBody>
      </p:sp>
    </p:spTree>
    <p:extLst>
      <p:ext uri="{BB962C8B-B14F-4D97-AF65-F5344CB8AC3E}">
        <p14:creationId xmlns:p14="http://schemas.microsoft.com/office/powerpoint/2010/main" val="209722055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90D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AC697C03-F087-49E2-B176-93F3B4A2A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"/>
            <a:ext cx="9144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200"/>
              </a:spcAft>
              <a:buNone/>
              <a:defRPr sz="1100" b="1">
                <a:solidFill>
                  <a:srgbClr val="49E7C3"/>
                </a:solidFill>
              </a:defRPr>
            </a:pPr>
            <a:r>
              <a:t>◉ CIVICLENS    /    GOOGLE CLOUD AI BUILDER CUP 2026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D814B2B2-8200-492A-9EC9-8D65BC554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68680"/>
            <a:ext cx="1097280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200"/>
              </a:spcAft>
              <a:buNone/>
              <a:defRPr sz="3300" b="1">
                <a:solidFill>
                  <a:srgbClr val="ECF3FF"/>
                </a:solidFill>
              </a:defRPr>
            </a:pPr>
            <a:r>
              <a:t>05  Differentiator: fewer, better tickets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81378180-6E33-4B74-B6E1-57C5D631D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691640"/>
            <a:ext cx="1005840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200"/>
              </a:spcAft>
              <a:buNone/>
              <a:defRPr sz="1600" b="0">
                <a:solidFill>
                  <a:srgbClr val="98AAC0"/>
                </a:solidFill>
              </a:defRPr>
            </a:pPr>
            <a:r>
              <a:t>Deduplication means coordination, not just classification.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AB1212D0-42EF-4DDF-94BC-70B8A2FA3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492240"/>
            <a:ext cx="10058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200"/>
              </a:spcAft>
              <a:buNone/>
              <a:defRPr sz="900" b="0">
                <a:solidFill>
                  <a:srgbClr val="98AAC0"/>
                </a:solidFill>
              </a:defRPr>
            </a:pPr>
            <a:r>
              <a:t>Prototype • synthetic demonstration • internal pitch draft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942FF2F1-B4DB-4ECE-95B7-D1308BF6B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468880"/>
            <a:ext cx="3474720" cy="24688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5223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A89A2C90-BC20-438A-A239-B6084F89B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43200"/>
            <a:ext cx="274320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200"/>
              </a:spcAft>
              <a:buNone/>
              <a:defRPr sz="5000" b="1">
                <a:solidFill>
                  <a:srgbClr val="49E7C3"/>
                </a:solidFill>
              </a:defRPr>
            </a:pPr>
            <a:r>
              <a:t>50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97DEFDCF-EB2C-45AA-835E-EA49FE0F2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58768"/>
            <a:ext cx="274320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200"/>
              </a:spcAft>
              <a:buNone/>
              <a:defRPr sz="1800" b="0">
                <a:solidFill>
                  <a:srgbClr val="ECF3FF"/>
                </a:solidFill>
              </a:defRPr>
            </a:pPr>
            <a:r>
              <a:t>Raw citizen reports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64A28E9E-5191-4CAF-9E0B-4F062F71B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468880"/>
            <a:ext cx="3474720" cy="24688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5223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7A62F467-4EA6-4BEE-8337-C65286E0B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0" y="2743200"/>
            <a:ext cx="274320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200"/>
              </a:spcAft>
              <a:buNone/>
              <a:defRPr sz="5000" b="1">
                <a:solidFill>
                  <a:srgbClr val="49E7C3"/>
                </a:solidFill>
              </a:defRPr>
            </a:pPr>
            <a:r>
              <a:t>5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DA125331-BA91-46FE-B6B2-DB79C82DC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0" y="3858768"/>
            <a:ext cx="274320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200"/>
              </a:spcAft>
              <a:buNone/>
              <a:defRPr sz="1800" b="0">
                <a:solidFill>
                  <a:srgbClr val="ECF3FF"/>
                </a:solidFill>
              </a:defRPr>
            </a:pPr>
            <a:r>
              <a:t>Consolidated incidents</a:t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915AB226-722C-404B-A77B-54910A779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0" y="2468880"/>
            <a:ext cx="3474720" cy="24688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5223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52A6CADD-6A29-4C64-A1BF-4E5DBE54B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3960" y="2743200"/>
            <a:ext cx="274320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200"/>
              </a:spcAft>
              <a:buNone/>
              <a:defRPr sz="5000" b="1">
                <a:solidFill>
                  <a:srgbClr val="49E7C3"/>
                </a:solidFill>
              </a:defRPr>
            </a:pPr>
            <a:r>
              <a:t>45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9A22D66F-A702-496A-BAED-45A1C736F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3960" y="3858768"/>
            <a:ext cx="274320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200"/>
              </a:spcAft>
              <a:buNone/>
              <a:defRPr sz="1800" b="0">
                <a:solidFill>
                  <a:srgbClr val="ECF3FF"/>
                </a:solidFill>
              </a:defRPr>
            </a:pPr>
            <a:r>
              <a:t>Duplicate tickets avoided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E7B6D921-3701-4EEF-BBCC-6C8D6B15D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349240"/>
            <a:ext cx="107899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200"/>
              </a:spcAft>
              <a:buNone/>
              <a:defRPr sz="1500" b="0">
                <a:solidFill>
                  <a:srgbClr val="98AAC0"/>
                </a:solidFill>
              </a:defRPr>
            </a:pPr>
            <a:r>
              <a:t>Method: category match + proximity within 700 meters; simple demo heuristic, not semantic clustering.</a:t>
            </a:r>
          </a:p>
        </p:txBody>
      </p:sp>
    </p:spTree>
    <p:extLst>
      <p:ext uri="{BB962C8B-B14F-4D97-AF65-F5344CB8AC3E}">
        <p14:creationId xmlns:p14="http://schemas.microsoft.com/office/powerpoint/2010/main" val="76911210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90D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47955F5B-8171-4246-B88D-5E49BDB9A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"/>
            <a:ext cx="9144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200"/>
              </a:spcAft>
              <a:buNone/>
              <a:defRPr sz="1100" b="1">
                <a:solidFill>
                  <a:srgbClr val="49E7C3"/>
                </a:solidFill>
              </a:defRPr>
            </a:pPr>
            <a:r>
              <a:t>◉ CIVICLENS    /    GOOGLE CLOUD AI BUILDER CUP 2026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E9ADB9CD-E729-411E-B1E7-7EECE3DAF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68680"/>
            <a:ext cx="1097280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200"/>
              </a:spcAft>
              <a:buNone/>
              <a:defRPr sz="3300" b="1">
                <a:solidFill>
                  <a:srgbClr val="ECF3FF"/>
                </a:solidFill>
              </a:defRPr>
            </a:pPr>
            <a:r>
              <a:t>06  Technology architecture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C72BA114-8FAC-4834-800B-E0B9D4D63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691640"/>
            <a:ext cx="10058400" cy="289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200"/>
              </a:spcAft>
              <a:buNone/>
              <a:defRPr sz="1600" b="0">
                <a:solidFill>
                  <a:srgbClr val="98AAC0"/>
                </a:solidFill>
              </a:defRPr>
            </a:pPr>
            <a:r>
              <a:t>Running local prototype with optional cloud integrations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722D93C4-12FA-4A9E-883D-CB741A01E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492240"/>
            <a:ext cx="10058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200"/>
              </a:spcAft>
              <a:buNone/>
              <a:defRPr sz="900" b="0">
                <a:solidFill>
                  <a:srgbClr val="98AAC0"/>
                </a:solidFill>
              </a:defRPr>
            </a:pPr>
            <a:r>
              <a:t>Prototype • synthetic demonstration • internal pitch draft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1EC02CCB-E09C-442A-93A4-A75167655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7" y="2560320"/>
            <a:ext cx="2743200" cy="29260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5223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318F916E-5263-46AB-B41B-B6512CDF2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" y="2862072"/>
            <a:ext cx="237744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200"/>
              </a:spcAft>
              <a:buNone/>
              <a:defRPr sz="1700" b="1">
                <a:solidFill>
                  <a:srgbClr val="49E7C3"/>
                </a:solidFill>
              </a:defRPr>
            </a:pPr>
            <a:r>
              <a:t>FRONTEND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D1203EF9-C88C-460B-A1B2-11AABB1DE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" y="3611880"/>
            <a:ext cx="2423160" cy="1127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200"/>
              </a:spcAft>
              <a:buNone/>
              <a:defRPr sz="1700" b="0">
                <a:solidFill>
                  <a:srgbClr val="ECF3FF"/>
                </a:solidFill>
              </a:defRPr>
            </a:pPr>
            <a:r>
              <a:t>Responsive web app</a:t>
            </a:r>
          </a:p>
          <a:p xmlns:a="http://schemas.openxmlformats.org/drawingml/2006/main">
            <a:pPr>
              <a:spcAft>
                <a:spcPts val="1200"/>
              </a:spcAft>
              <a:buNone/>
              <a:defRPr sz="1700" b="0">
                <a:solidFill>
                  <a:srgbClr val="ECF3FF"/>
                </a:solidFill>
              </a:defRPr>
            </a:pPr>
            <a:r>
              <a:rPr sz="1700" b="0">
                <a:solidFill>
                  <a:srgbClr val="ECF3FF"/>
                </a:solidFill>
              </a:rPr>
              <a:t>Leaflet / Esri tiles</a:t>
            </a:r>
          </a:p>
          <a:p xmlns:a="http://schemas.openxmlformats.org/drawingml/2006/main">
            <a:pPr>
              <a:spcAft>
                <a:spcPts val="1200"/>
              </a:spcAft>
              <a:buNone/>
              <a:defRPr sz="1700" b="0">
                <a:solidFill>
                  <a:srgbClr val="ECF3FF"/>
                </a:solidFill>
              </a:defRPr>
            </a:pPr>
            <a:r>
              <a:rPr sz="1700" b="0">
                <a:solidFill>
                  <a:srgbClr val="ECF3FF"/>
                </a:solidFill>
              </a:rPr>
              <a:t>Browser speech input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DE3465CB-F9BF-4459-9975-BAB3FB919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0712" y="2560320"/>
            <a:ext cx="2743200" cy="29260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5223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E4980C3F-F111-4DFD-A076-D7C5CB1F0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2862072"/>
            <a:ext cx="237744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200"/>
              </a:spcAft>
              <a:buNone/>
              <a:defRPr sz="1700" b="1">
                <a:solidFill>
                  <a:srgbClr val="49E7C3"/>
                </a:solidFill>
              </a:defRPr>
            </a:pPr>
            <a:r>
              <a:t>BACKEND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98080EF0-F7C4-4825-BECE-33B3DC4A9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3611880"/>
            <a:ext cx="2423160" cy="1127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200"/>
              </a:spcAft>
              <a:buNone/>
              <a:defRPr sz="1700" b="0">
                <a:solidFill>
                  <a:srgbClr val="ECF3FF"/>
                </a:solidFill>
              </a:defRPr>
            </a:pPr>
            <a:r>
              <a:t>FastAPI</a:t>
            </a:r>
          </a:p>
          <a:p xmlns:a="http://schemas.openxmlformats.org/drawingml/2006/main">
            <a:pPr>
              <a:spcAft>
                <a:spcPts val="1200"/>
              </a:spcAft>
              <a:buNone/>
              <a:defRPr sz="1700" b="0">
                <a:solidFill>
                  <a:srgbClr val="ECF3FF"/>
                </a:solidFill>
              </a:defRPr>
            </a:pPr>
            <a:r>
              <a:rPr sz="1700" b="0">
                <a:solidFill>
                  <a:srgbClr val="ECF3FF"/>
                </a:solidFill>
              </a:rPr>
              <a:t>700 m category merge</a:t>
            </a:r>
          </a:p>
          <a:p xmlns:a="http://schemas.openxmlformats.org/drawingml/2006/main">
            <a:pPr>
              <a:spcAft>
                <a:spcPts val="1200"/>
              </a:spcAft>
              <a:buNone/>
              <a:defRPr sz="1700" b="0">
                <a:solidFill>
                  <a:srgbClr val="ECF3FF"/>
                </a:solidFill>
              </a:defRPr>
            </a:pPr>
            <a:r>
              <a:rPr sz="1700" b="0">
                <a:solidFill>
                  <a:srgbClr val="ECF3FF"/>
                </a:solidFill>
              </a:rPr>
              <a:t>Priority score</a:t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7318C58E-51CA-49E2-9EE1-1B96AD8A8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216" y="2560320"/>
            <a:ext cx="2743200" cy="29260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5223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02FAC475-1E4D-4B75-842D-5F80407F7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5664" y="2862072"/>
            <a:ext cx="2377440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200"/>
              </a:spcAft>
              <a:buNone/>
              <a:defRPr sz="1700" b="1">
                <a:solidFill>
                  <a:srgbClr val="49E7C3"/>
                </a:solidFill>
              </a:defRPr>
            </a:pPr>
            <a:r>
              <a:t>CLASSIFICATION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EFC75B80-24A1-4E45-AB6B-72FB851D7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5664" y="3611880"/>
            <a:ext cx="2423160" cy="1127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200"/>
              </a:spcAft>
              <a:buNone/>
              <a:defRPr sz="1700" b="0">
                <a:solidFill>
                  <a:srgbClr val="ECF3FF"/>
                </a:solidFill>
              </a:defRPr>
            </a:pPr>
            <a:r>
              <a:t>Local rules in demo</a:t>
            </a:r>
          </a:p>
          <a:p xmlns:a="http://schemas.openxmlformats.org/drawingml/2006/main">
            <a:pPr>
              <a:spcAft>
                <a:spcPts val="1200"/>
              </a:spcAft>
              <a:buNone/>
              <a:defRPr sz="1700" b="0">
                <a:solidFill>
                  <a:srgbClr val="ECF3FF"/>
                </a:solidFill>
              </a:defRPr>
            </a:pPr>
            <a:r>
              <a:rPr sz="1700" b="0">
                <a:solidFill>
                  <a:srgbClr val="ECF3FF"/>
                </a:solidFill>
              </a:rPr>
              <a:t>Gemini 2.5 Flash</a:t>
            </a:r>
          </a:p>
          <a:p xmlns:a="http://schemas.openxmlformats.org/drawingml/2006/main">
            <a:pPr>
              <a:spcAft>
                <a:spcPts val="1200"/>
              </a:spcAft>
              <a:buNone/>
              <a:defRPr sz="1700" b="0">
                <a:solidFill>
                  <a:srgbClr val="ECF3FF"/>
                </a:solidFill>
              </a:defRPr>
            </a:pPr>
            <a:r>
              <a:rPr sz="1700" b="0">
                <a:solidFill>
                  <a:srgbClr val="ECF3FF"/>
                </a:solidFill>
              </a:rPr>
              <a:t>Live call unverified</a:t>
            </a: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45CE305D-F6F7-450D-8C99-9B3DAEC86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9720" y="2560320"/>
            <a:ext cx="2743200" cy="29260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5223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6E3B65FC-056A-4080-958F-8C0DACFF6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5168" y="2862072"/>
            <a:ext cx="2377440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200"/>
              </a:spcAft>
              <a:buNone/>
              <a:defRPr sz="1700" b="1">
                <a:solidFill>
                  <a:srgbClr val="49E7C3"/>
                </a:solidFill>
              </a:defRPr>
            </a:pPr>
            <a:r>
              <a:t>CLOUD OPTIONS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2F2CAF49-004F-47D5-85E1-95E9085A7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5168" y="3611880"/>
            <a:ext cx="2423160" cy="1127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200"/>
              </a:spcAft>
              <a:buNone/>
              <a:defRPr sz="1700" b="0">
                <a:solidFill>
                  <a:srgbClr val="ECF3FF"/>
                </a:solidFill>
              </a:defRPr>
            </a:pPr>
            <a:r>
              <a:t>Cloud Run config</a:t>
            </a:r>
          </a:p>
          <a:p xmlns:a="http://schemas.openxmlformats.org/drawingml/2006/main">
            <a:pPr>
              <a:spcAft>
                <a:spcPts val="1200"/>
              </a:spcAft>
              <a:buNone/>
              <a:defRPr sz="1700" b="0">
                <a:solidFill>
                  <a:srgbClr val="ECF3FF"/>
                </a:solidFill>
              </a:defRPr>
            </a:pPr>
            <a:r>
              <a:rPr sz="1700" b="0">
                <a:solidFill>
                  <a:srgbClr val="ECF3FF"/>
                </a:solidFill>
              </a:rPr>
              <a:t>Firestore optional</a:t>
            </a:r>
          </a:p>
          <a:p xmlns:a="http://schemas.openxmlformats.org/drawingml/2006/main">
            <a:pPr>
              <a:spcAft>
                <a:spcPts val="1200"/>
              </a:spcAft>
              <a:buNone/>
              <a:defRPr sz="1700" b="0">
                <a:solidFill>
                  <a:srgbClr val="ECF3FF"/>
                </a:solidFill>
              </a:defRPr>
            </a:pPr>
            <a:r>
              <a:rPr sz="1700" b="0">
                <a:solidFill>
                  <a:srgbClr val="ECF3FF"/>
                </a:solidFill>
              </a:rPr>
              <a:t>Firebase token checks</a:t>
            </a:r>
          </a:p>
        </p:txBody>
      </p:sp>
    </p:spTree>
    <p:extLst>
      <p:ext uri="{BB962C8B-B14F-4D97-AF65-F5344CB8AC3E}">
        <p14:creationId xmlns:p14="http://schemas.microsoft.com/office/powerpoint/2010/main" val="115864989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90D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17ED0A73-D897-4A89-91F8-AE01AAFEA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"/>
            <a:ext cx="9144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200"/>
              </a:spcAft>
              <a:buNone/>
              <a:defRPr sz="1100" b="1">
                <a:solidFill>
                  <a:srgbClr val="49E7C3"/>
                </a:solidFill>
              </a:defRPr>
            </a:pPr>
            <a:r>
              <a:t>◉ CIVICLENS    /    GOOGLE CLOUD AI BUILDER CUP 2026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BDF37C0E-6B1B-4E29-9D98-C922CFCEE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68680"/>
            <a:ext cx="1097280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200"/>
              </a:spcAft>
              <a:buNone/>
              <a:defRPr sz="3300" b="1">
                <a:solidFill>
                  <a:srgbClr val="ECF3FF"/>
                </a:solidFill>
              </a:defRPr>
            </a:pPr>
            <a:r>
              <a:t>07  Impact and guardrails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F2ADE319-C5E8-4E38-AC39-2C5EE0A0F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691640"/>
            <a:ext cx="1005840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200"/>
              </a:spcAft>
              <a:buNone/>
              <a:defRPr sz="1600" b="0">
                <a:solidFill>
                  <a:srgbClr val="98AAC0"/>
                </a:solidFill>
              </a:defRPr>
            </a:pPr>
            <a:r>
              <a:t>Citizen trust needs accurate, auditable outcomes.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AF649CB7-72CF-4004-9B8E-B9D166263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492240"/>
            <a:ext cx="10058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200"/>
              </a:spcAft>
              <a:buNone/>
              <a:defRPr sz="900" b="0">
                <a:solidFill>
                  <a:srgbClr val="98AAC0"/>
                </a:solidFill>
              </a:defRPr>
            </a:pPr>
            <a:r>
              <a:t>Prototype • synthetic demonstration • internal pitch draft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3AC17082-0FC2-4719-8B2F-3EAE14573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23160"/>
            <a:ext cx="5212080" cy="32918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5223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6F955F6B-7F5F-48C6-8A68-E8C26B154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2734056"/>
            <a:ext cx="457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200"/>
              </a:spcAft>
              <a:buNone/>
              <a:defRPr sz="2100" b="1">
                <a:solidFill>
                  <a:srgbClr val="49E7C3"/>
                </a:solidFill>
              </a:defRPr>
            </a:pPr>
            <a:r>
              <a:t>POTENTIAL IMPACT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3334A895-7BB8-4A94-806D-8E92D7A00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3429000"/>
            <a:ext cx="4480560" cy="182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200"/>
              </a:spcAft>
              <a:buNone/>
              <a:defRPr sz="1800" b="0">
                <a:solidFill>
                  <a:srgbClr val="ECF3FF"/>
                </a:solidFill>
              </a:defRPr>
            </a:pPr>
            <a:r>
              <a:t>Reduce repetitive workload</a:t>
            </a:r>
          </a:p>
          <a:p xmlns:a="http://schemas.openxmlformats.org/drawingml/2006/main">
            <a:pPr>
              <a:spcAft>
                <a:spcPts val="1200"/>
              </a:spcAft>
              <a:buNone/>
              <a:defRPr sz="1800" b="0">
                <a:solidFill>
                  <a:srgbClr val="ECF3FF"/>
                </a:solidFill>
              </a:defRPr>
            </a:pPr>
            <a:r>
              <a:t>Surface urgent public-safety issues</a:t>
            </a:r>
          </a:p>
          <a:p xmlns:a="http://schemas.openxmlformats.org/drawingml/2006/main">
            <a:pPr>
              <a:spcAft>
                <a:spcPts val="1200"/>
              </a:spcAft>
              <a:buNone/>
              <a:defRPr sz="1800" b="0">
                <a:solidFill>
                  <a:srgbClr val="ECF3FF"/>
                </a:solidFill>
              </a:defRPr>
            </a:pPr>
            <a:r>
              <a:t>Improve visibility by location and category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007A29D3-4415-42EE-A0E3-637468ABF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423160"/>
            <a:ext cx="5212080" cy="32918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5223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7FBD8880-3EAB-404D-97EB-6F392CB6F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8232" y="2734056"/>
            <a:ext cx="457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200"/>
              </a:spcAft>
              <a:buNone/>
              <a:defRPr sz="2100" b="1">
                <a:solidFill>
                  <a:srgbClr val="FFD17B"/>
                </a:solidFill>
              </a:defRPr>
            </a:pPr>
            <a:r>
              <a:t>HONEST LIMITS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305EF79B-1801-4C5F-8D96-E2FCAA5D9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8232" y="3429000"/>
            <a:ext cx="4480560" cy="182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200"/>
              </a:spcAft>
              <a:buNone/>
              <a:defRPr sz="1800" b="0">
                <a:solidFill>
                  <a:srgbClr val="ECF3FF"/>
                </a:solidFill>
              </a:defRPr>
            </a:pPr>
            <a:r>
              <a:t>Synthetic sample, not live municipal data</a:t>
            </a:r>
          </a:p>
          <a:p xmlns:a="http://schemas.openxmlformats.org/drawingml/2006/main">
            <a:pPr>
              <a:spcAft>
                <a:spcPts val="1200"/>
              </a:spcAft>
              <a:buNone/>
              <a:defRPr sz="1800" b="0">
                <a:solidFill>
                  <a:srgbClr val="ECF3FF"/>
                </a:solidFill>
              </a:defRPr>
            </a:pPr>
            <a:r>
              <a:t>Heuristic may merge unrelated nearby events</a:t>
            </a:r>
          </a:p>
          <a:p xmlns:a="http://schemas.openxmlformats.org/drawingml/2006/main">
            <a:pPr>
              <a:spcAft>
                <a:spcPts val="1200"/>
              </a:spcAft>
              <a:buNone/>
              <a:defRPr sz="1800" b="0">
                <a:solidFill>
                  <a:srgbClr val="ECF3FF"/>
                </a:solidFill>
              </a:defRPr>
            </a:pPr>
            <a:r>
              <a:t>Production needs moderation, privacy and SSO</a:t>
            </a:r>
          </a:p>
        </p:txBody>
      </p:sp>
    </p:spTree>
    <p:extLst>
      <p:ext uri="{BB962C8B-B14F-4D97-AF65-F5344CB8AC3E}">
        <p14:creationId xmlns:p14="http://schemas.microsoft.com/office/powerpoint/2010/main" val="24239201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90D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213A5723-2D58-4F47-B120-A04DD8CE9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"/>
            <a:ext cx="9144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200"/>
              </a:spcAft>
              <a:buNone/>
              <a:defRPr sz="1100" b="1">
                <a:solidFill>
                  <a:srgbClr val="49E7C3"/>
                </a:solidFill>
              </a:defRPr>
            </a:pPr>
            <a:r>
              <a:t>◉ CIVICLENS    /    GOOGLE CLOUD AI BUILDER CUP 2026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4210009F-EE4D-44A8-8898-48B98EA05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68680"/>
            <a:ext cx="1097280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200"/>
              </a:spcAft>
              <a:buNone/>
              <a:defRPr sz="3300" b="1">
                <a:solidFill>
                  <a:srgbClr val="ECF3FF"/>
                </a:solidFill>
              </a:defRPr>
            </a:pPr>
            <a:r>
              <a:t>08  Roadmap to municipal readiness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63A08F9A-630D-4264-9D49-FA1F1A4A1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691640"/>
            <a:ext cx="1005840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200"/>
              </a:spcAft>
              <a:buNone/>
              <a:defRPr sz="1600" b="0">
                <a:solidFill>
                  <a:srgbClr val="98AAC0"/>
                </a:solidFill>
              </a:defRPr>
            </a:pPr>
            <a:r>
              <a:t>From working demo to trustworthy workflow.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485051EE-939D-46BB-866F-BA3BBA2CA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492240"/>
            <a:ext cx="10058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200"/>
              </a:spcAft>
              <a:buNone/>
              <a:defRPr sz="900" b="0">
                <a:solidFill>
                  <a:srgbClr val="98AAC0"/>
                </a:solidFill>
              </a:defRPr>
            </a:pPr>
            <a:r>
              <a:t>Prototype • synthetic demonstration • internal pitch draft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89844A1E-30DA-4486-BB34-486C1CDE7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2468880"/>
            <a:ext cx="2743200" cy="2743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5223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F9C11815-586A-45B8-9829-0BD3B2F43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" y="2743200"/>
            <a:ext cx="24688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200"/>
              </a:spcAft>
              <a:buNone/>
              <a:defRPr sz="2100" b="1">
                <a:solidFill>
                  <a:srgbClr val="49E7C3"/>
                </a:solidFill>
              </a:defRPr>
            </a:pPr>
            <a:r>
              <a:t>NOW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A3B41C96-AD53-43D2-A8C6-A58FDED39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" y="3474720"/>
            <a:ext cx="2377440" cy="1463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200"/>
              </a:spcAft>
              <a:buNone/>
              <a:defRPr sz="1700" b="0">
                <a:solidFill>
                  <a:srgbClr val="ECF3FF"/>
                </a:solidFill>
              </a:defRPr>
            </a:pPr>
            <a:r>
              <a:t>Local demo</a:t>
            </a:r>
          </a:p>
          <a:p xmlns:a="http://schemas.openxmlformats.org/drawingml/2006/main">
            <a:pPr>
              <a:spcAft>
                <a:spcPts val="1200"/>
              </a:spcAft>
              <a:buNone/>
              <a:defRPr sz="1700" b="0">
                <a:solidFill>
                  <a:srgbClr val="ECF3FF"/>
                </a:solidFill>
              </a:defRPr>
            </a:pPr>
            <a:r>
              <a:t>5 clusters from 50 reports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3AE6AE7D-6193-46F6-A26A-0401A0889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856" y="2468880"/>
            <a:ext cx="2743200" cy="2743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5223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B59D2D3D-F9CF-4240-97B2-A1267BB84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92" y="2743200"/>
            <a:ext cx="24688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200"/>
              </a:spcAft>
              <a:buNone/>
              <a:defRPr sz="2100" b="1">
                <a:solidFill>
                  <a:srgbClr val="49E7C3"/>
                </a:solidFill>
              </a:defRPr>
            </a:pPr>
            <a:r>
              <a:t>NEXT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DA380201-301E-4E6E-8EC3-8E55FFC59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92" y="3474720"/>
            <a:ext cx="2377440" cy="1463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200"/>
              </a:spcAft>
              <a:buNone/>
              <a:defRPr sz="1700" b="0">
                <a:solidFill>
                  <a:srgbClr val="ECF3FF"/>
                </a:solidFill>
              </a:defRPr>
            </a:pPr>
            <a:r>
              <a:t>Live Gemini + Firebase login</a:t>
            </a:r>
          </a:p>
          <a:p xmlns:a="http://schemas.openxmlformats.org/drawingml/2006/main">
            <a:pPr>
              <a:spcAft>
                <a:spcPts val="1200"/>
              </a:spcAft>
              <a:buNone/>
              <a:defRPr sz="1700" b="0">
                <a:solidFill>
                  <a:srgbClr val="ECF3FF"/>
                </a:solidFill>
              </a:defRPr>
            </a:pPr>
            <a:r>
              <a:t>Firestore incident rehydration</a:t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1381D917-FB31-44C1-B7D1-7C00CB40E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2468880"/>
            <a:ext cx="2743200" cy="2743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5223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A5642FFD-E793-4841-8E6F-773EBF896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3096" y="2743200"/>
            <a:ext cx="24688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200"/>
              </a:spcAft>
              <a:buNone/>
              <a:defRPr sz="2100" b="1">
                <a:solidFill>
                  <a:srgbClr val="49E7C3"/>
                </a:solidFill>
              </a:defRPr>
            </a:pPr>
            <a:r>
              <a:t>PILOT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C0074463-EF8D-4957-A77D-E9248C825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3096" y="3474720"/>
            <a:ext cx="2377440" cy="1463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200"/>
              </a:spcAft>
              <a:buNone/>
              <a:defRPr sz="1700" b="0">
                <a:solidFill>
                  <a:srgbClr val="ECF3FF"/>
                </a:solidFill>
              </a:defRPr>
            </a:pPr>
            <a:r>
              <a:t>Human-review dedup</a:t>
            </a:r>
          </a:p>
          <a:p xmlns:a="http://schemas.openxmlformats.org/drawingml/2006/main">
            <a:pPr>
              <a:spcAft>
                <a:spcPts val="1200"/>
              </a:spcAft>
              <a:buNone/>
              <a:defRPr sz="1700" b="0">
                <a:solidFill>
                  <a:srgbClr val="ECF3FF"/>
                </a:solidFill>
              </a:defRPr>
            </a:pPr>
            <a:r>
              <a:t>SLA queues + audit trail</a:t>
            </a: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14586EF3-8C2F-419F-BC21-1161223BC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8864" y="2468880"/>
            <a:ext cx="2743200" cy="2743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5223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53672754-CE11-47B9-8E50-0A30CCF76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743200"/>
            <a:ext cx="24688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200"/>
              </a:spcAft>
              <a:buNone/>
              <a:defRPr sz="2100" b="1">
                <a:solidFill>
                  <a:srgbClr val="49E7C3"/>
                </a:solidFill>
              </a:defRPr>
            </a:pPr>
            <a:r>
              <a:t>SCALE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3B79C0F2-8D28-48BF-B62C-C2A70272B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474720"/>
            <a:ext cx="2377440" cy="1463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200"/>
              </a:spcAft>
              <a:buNone/>
              <a:defRPr sz="1700" b="0">
                <a:solidFill>
                  <a:srgbClr val="ECF3FF"/>
                </a:solidFill>
              </a:defRPr>
            </a:pPr>
            <a:r>
              <a:t>Municipal integrations</a:t>
            </a:r>
          </a:p>
          <a:p xmlns:a="http://schemas.openxmlformats.org/drawingml/2006/main">
            <a:pPr>
              <a:spcAft>
                <a:spcPts val="1200"/>
              </a:spcAft>
              <a:buNone/>
              <a:defRPr sz="1700" b="0">
                <a:solidFill>
                  <a:srgbClr val="ECF3FF"/>
                </a:solidFill>
              </a:defRPr>
            </a:pPr>
            <a:r>
              <a:t>Impact and resolution metrics</a:t>
            </a:r>
          </a:p>
        </p:txBody>
      </p:sp>
    </p:spTree>
    <p:extLst>
      <p:ext uri="{BB962C8B-B14F-4D97-AF65-F5344CB8AC3E}">
        <p14:creationId xmlns:p14="http://schemas.microsoft.com/office/powerpoint/2010/main" val="75044859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90D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10C62EF2-0902-46C3-AB4E-EE5D6F8B1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"/>
            <a:ext cx="9144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200"/>
              </a:spcAft>
              <a:buNone/>
              <a:defRPr sz="1100" b="1">
                <a:solidFill>
                  <a:srgbClr val="49E7C3"/>
                </a:solidFill>
              </a:defRPr>
            </a:pPr>
            <a:r>
              <a:t>◉ CIVICLENS    /    GOOGLE CLOUD AI BUILDER CUP 2026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F8A92689-73D8-4E31-B1DA-D1874C285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68680"/>
            <a:ext cx="1097280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200"/>
              </a:spcAft>
              <a:buNone/>
              <a:defRPr sz="3300" b="1">
                <a:solidFill>
                  <a:srgbClr val="ECF3FF"/>
                </a:solidFill>
              </a:defRPr>
            </a:pPr>
            <a:r>
              <a:t>09  The ask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62C9861B-000B-442F-A98D-5CCAA9791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691640"/>
            <a:ext cx="1005840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200"/>
              </a:spcAft>
              <a:buNone/>
              <a:defRPr sz="1600" b="0">
                <a:solidFill>
                  <a:srgbClr val="98AAC0"/>
                </a:solidFill>
              </a:defRPr>
            </a:pPr>
            <a:r>
              <a:t>Pilot CivicLens with an accountable municipal team.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9B81C7FD-513C-4978-AB6A-958A53276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492240"/>
            <a:ext cx="10058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200"/>
              </a:spcAft>
              <a:buNone/>
              <a:defRPr sz="900" b="0">
                <a:solidFill>
                  <a:srgbClr val="98AAC0"/>
                </a:solidFill>
              </a:defRPr>
            </a:pPr>
            <a:r>
              <a:t>Prototype • synthetic demonstration • internal pitch draft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1617D95A-494C-4517-80AE-DE99190BD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68880"/>
            <a:ext cx="10424160" cy="24231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5223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48A22652-0080-41D6-9E87-D968BD21B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980944"/>
            <a:ext cx="950976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200"/>
              </a:spcAft>
              <a:buNone/>
              <a:defRPr sz="2700" b="1">
                <a:solidFill>
                  <a:srgbClr val="ECF3FF"/>
                </a:solidFill>
              </a:defRPr>
            </a:pPr>
            <a:r>
              <a:t>Help us validate real city pain points, refine duplicate detection, and measure response-time improvements.</a:t>
            </a:r>
          </a:p>
        </p:txBody>
      </p:sp>
    </p:spTree>
    <p:extLst>
      <p:ext uri="{BB962C8B-B14F-4D97-AF65-F5344CB8AC3E}">
        <p14:creationId xmlns:p14="http://schemas.microsoft.com/office/powerpoint/2010/main" val="1134011842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2026-10-18T17:12:52.5390000Z</dcterms:created>
  <dcterms:modified xsi:type="dcterms:W3CDTF">2026-10-18T17:12:52.5390000Z</dcterms:modified>
</coreProperties>
</file>